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Customer Churn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Turning customer data into retention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Excel-based customer churn analysis project</a:t>
            </a:r>
          </a:p>
          <a:p>
            <a:pPr>
              <a:spcAft>
                <a:spcPts val="1200"/>
              </a:spcAft>
              <a:defRPr sz="2100"/>
            </a:pPr>
            <a:r>
              <a:t>Objective: identify high-risk customer segments and translate findings into actionable management recommendations</a:t>
            </a:r>
          </a:p>
          <a:p>
            <a:pPr>
              <a:spcAft>
                <a:spcPts val="1200"/>
              </a:spcAft>
              <a:defRPr sz="2100"/>
            </a:pPr>
            <a:r>
              <a:t>Core questions: Who is churning? When are they most likely to leave? Which services and payment methods are associated with churn?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Why customer churn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Customer churn occurs when customers discontinue their relationship with a business.</a:t>
            </a:r>
          </a:p>
          <a:p>
            <a:pPr>
              <a:spcAft>
                <a:spcPts val="1200"/>
              </a:spcAft>
              <a:defRPr sz="1900"/>
            </a:pPr>
            <a:r>
              <a:t>High churn can reduce revenue, customer lifetime value and growth while increasing customer replacement costs.</a:t>
            </a:r>
          </a:p>
          <a:p>
            <a:pPr>
              <a:spcAft>
                <a:spcPts val="1200"/>
              </a:spcAft>
              <a:defRPr sz="1900"/>
            </a:pPr>
            <a:r>
              <a:t>The analysis focuses on contracts, tenure, services, payment methods and customer characteristics.</a:t>
            </a:r>
          </a:p>
          <a:p>
            <a:pPr>
              <a:spcAft>
                <a:spcPts val="1200"/>
              </a:spcAft>
              <a:defRPr sz="1900"/>
            </a:pPr>
            <a:r>
              <a:t>The goal is to identify where management should focus retention efforts.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&amp; Analytical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Telecommunications customer dataset containing demographic, account, service, payment and churn information.</a:t>
            </a:r>
          </a:p>
          <a:p>
            <a:pPr>
              <a:spcAft>
                <a:spcPts val="1200"/>
              </a:spcAft>
              <a:defRPr sz="1900"/>
            </a:pPr>
            <a:r>
              <a:t>Data preparation included inspection of rows/columns, data types, missing values, duplicates and summary statistics.</a:t>
            </a:r>
          </a:p>
          <a:p>
            <a:pPr>
              <a:spcAft>
                <a:spcPts val="1200"/>
              </a:spcAft>
              <a:defRPr sz="1900"/>
            </a:pPr>
            <a:r>
              <a:t>Churn was converted to a numeric indicator for correlation analysis: Yes = 1, No = 0.</a:t>
            </a:r>
          </a:p>
          <a:p>
            <a:pPr>
              <a:spcAft>
                <a:spcPts val="1200"/>
              </a:spcAft>
              <a:defRPr sz="1900"/>
            </a:pPr>
            <a:r>
              <a:t>Excel was used for analysis and visualisation: bar charts, pie charts, histograms, box-and-whisker plot and correlation heatmap.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Insight 1: Contract Type Is Strongly Associated With Churn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Month-to-month: 42.71% churn</a:t>
            </a:r>
          </a:p>
          <a:p>
            <a:pPr>
              <a:spcAft>
                <a:spcPts val="1200"/>
              </a:spcAft>
              <a:defRPr sz="1900"/>
            </a:pPr>
            <a:r>
              <a:t>One year: 11.27% churn</a:t>
            </a:r>
          </a:p>
          <a:p>
            <a:pPr>
              <a:spcAft>
                <a:spcPts val="1200"/>
              </a:spcAft>
              <a:defRPr sz="1900"/>
            </a:pPr>
            <a:r>
              <a:t>Two year: 2.83% churn</a:t>
            </a:r>
          </a:p>
          <a:p>
            <a:pPr>
              <a:spcAft>
                <a:spcPts val="1200"/>
              </a:spcAft>
              <a:defRPr sz="1900"/>
            </a:pPr>
            <a:r>
              <a:t>Customers with less contractual commitment are a major retention priority.</a:t>
            </a:r>
          </a:p>
          <a:p>
            <a:pPr>
              <a:spcAft>
                <a:spcPts val="1200"/>
              </a:spcAft>
              <a:defRPr sz="1900"/>
            </a:pPr>
            <a:r>
              <a:t>The analysis shows association; it does not prove contract length alone causes retention.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Insight 2: The First Year Is the Highest-Risk Period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0–12 months: 47.44% churn</a:t>
            </a:r>
          </a:p>
          <a:p>
            <a:pPr>
              <a:spcAft>
                <a:spcPts val="1200"/>
              </a:spcAft>
              <a:defRPr sz="1900"/>
            </a:pPr>
            <a:r>
              <a:t>61–72 months: 6.61% churn</a:t>
            </a:r>
          </a:p>
          <a:p>
            <a:pPr>
              <a:spcAft>
                <a:spcPts val="1200"/>
              </a:spcAft>
              <a:defRPr sz="1900"/>
            </a:pPr>
            <a:r>
              <a:t>Churn generally declines as tenure increases.</a:t>
            </a:r>
          </a:p>
          <a:p>
            <a:pPr>
              <a:spcAft>
                <a:spcPts val="1200"/>
              </a:spcAft>
              <a:defRPr sz="1900"/>
            </a:pPr>
            <a:r>
              <a:t>The first year is therefore a critical period for onboarding, engagement and proactive support.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Insight 3: High-Risk Segments Require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Fiber optic customers: 41.89% churn vs 18.96% for DSL.</a:t>
            </a:r>
          </a:p>
          <a:p>
            <a:pPr>
              <a:spcAft>
                <a:spcPts val="1200"/>
              </a:spcAft>
              <a:defRPr sz="1900"/>
            </a:pPr>
            <a:r>
              <a:t>Electronic check customers: 45.29% churn, the highest among payment methods.</a:t>
            </a:r>
          </a:p>
          <a:p>
            <a:pPr>
              <a:spcAft>
                <a:spcPts val="1200"/>
              </a:spcAft>
              <a:defRPr sz="1900"/>
            </a:pPr>
            <a:r>
              <a:t>Without Online Security: 41.77% churn vs 14.61% with the service.</a:t>
            </a:r>
          </a:p>
          <a:p>
            <a:pPr>
              <a:spcAft>
                <a:spcPts val="1200"/>
              </a:spcAft>
              <a:defRPr sz="1900"/>
            </a:pPr>
            <a:r>
              <a:t>Without Tech Support: 41.64% churn vs 15.17% with the service.</a:t>
            </a:r>
          </a:p>
          <a:p>
            <a:pPr>
              <a:spcAft>
                <a:spcPts val="1200"/>
              </a:spcAft>
              <a:defRPr sz="1900"/>
            </a:pPr>
            <a:r>
              <a:t>These patterns identify risk segments; further analysis is needed to understand the causes.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1. High early-stage attrition may reduce customer lifetime value and increase replacement costs.</a:t>
            </a:r>
          </a:p>
          <a:p>
            <a:pPr>
              <a:spcAft>
                <a:spcPts val="1200"/>
              </a:spcAft>
              <a:defRPr sz="1900"/>
            </a:pPr>
            <a:r>
              <a:t>2. Month-to-month customers combine a large customer base with a very high churn rate.</a:t>
            </a:r>
          </a:p>
          <a:p>
            <a:pPr>
              <a:spcAft>
                <a:spcPts val="1200"/>
              </a:spcAft>
              <a:defRPr sz="1900"/>
            </a:pPr>
            <a:r>
              <a:t>3. Multiple high-risk segments create concentrated exposure that should be monitored.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1. Strengthen first-year retention through structured onboarding and 30/60/90-day engagement.</a:t>
            </a:r>
          </a:p>
          <a:p>
            <a:pPr>
              <a:spcAft>
                <a:spcPts val="1200"/>
              </a:spcAft>
              <a:defRPr sz="1900"/>
            </a:pPr>
            <a:r>
              <a:t>2. Encourage suitable month-to-month customers to consider longer-term contracts through value-based incentives.</a:t>
            </a:r>
          </a:p>
          <a:p>
            <a:pPr>
              <a:spcAft>
                <a:spcPts val="1200"/>
              </a:spcAft>
              <a:defRPr sz="1900"/>
            </a:pPr>
            <a:r>
              <a:t>3. Test targeted bundles of relevant value-added services and measure whether adoption improves retention.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Management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Prioritise a first-year customer retention programme.</a:t>
            </a:r>
          </a:p>
          <a:p>
            <a:pPr>
              <a:spcAft>
                <a:spcPts val="1200"/>
              </a:spcAft>
              <a:defRPr sz="1900"/>
            </a:pPr>
            <a:r>
              <a:t>Develop targeted contract-conversion offers for suitable month-to-month customers.</a:t>
            </a:r>
          </a:p>
          <a:p>
            <a:pPr>
              <a:spcAft>
                <a:spcPts val="1200"/>
              </a:spcAft>
              <a:defRPr sz="1900"/>
            </a:pPr>
            <a:r>
              <a:t>Investigate pricing, reliability, service quality and customer experience among fiber optic customers.</a:t>
            </a:r>
          </a:p>
          <a:p>
            <a:pPr>
              <a:spcAft>
                <a:spcPts val="1200"/>
              </a:spcAft>
              <a:defRPr sz="1900"/>
            </a:pPr>
            <a:r>
              <a:t>Review the electronic-check payment experience and encourage smoother payment options where appropriate.</a:t>
            </a:r>
          </a:p>
          <a:p>
            <a:pPr>
              <a:spcAft>
                <a:spcPts val="1200"/>
              </a:spcAft>
              <a:defRPr sz="1900"/>
            </a:pPr>
            <a:r>
              <a:t>Test value-added service bundles using controlled measurement rather than assuming causation.</a:t>
            </a:r>
          </a:p>
          <a:p>
            <a:pPr>
              <a:spcAft>
                <a:spcPts val="1200"/>
              </a:spcAft>
              <a:defRPr sz="1900"/>
            </a:pPr>
            <a:r>
              <a:t>Create a recurring churn dashboard to monitor high-risk segments over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Business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From descriptive analysis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WHO is leaving? → Churn is concentrated in identifiable segments.</a:t>
            </a:r>
          </a:p>
          <a:p>
            <a:pPr>
              <a:spcAft>
                <a:spcPts val="1200"/>
              </a:spcAft>
              <a:defRPr sz="1900"/>
            </a:pPr>
            <a:r>
              <a:t>WHEN are they leaving? → The first 12 months are the highest-risk period.</a:t>
            </a:r>
          </a:p>
          <a:p>
            <a:pPr>
              <a:spcAft>
                <a:spcPts val="1200"/>
              </a:spcAft>
              <a:defRPr sz="1900"/>
            </a:pPr>
            <a:r>
              <a:t>WHERE is risk concentrated? → Month-to-month, fiber optic and electronic-check customers stand out.</a:t>
            </a:r>
          </a:p>
          <a:p>
            <a:pPr>
              <a:spcAft>
                <a:spcPts val="1200"/>
              </a:spcAft>
              <a:defRPr sz="1900"/>
            </a:pPr>
            <a:r>
              <a:t>WHAT should management do? → Target early retention, investigate high-risk segments and test interventions.</a:t>
            </a:r>
          </a:p>
          <a:p>
            <a:pPr>
              <a:spcAft>
                <a:spcPts val="1200"/>
              </a:spcAft>
              <a:defRPr sz="1900"/>
            </a:pPr>
            <a:r>
              <a:t>HOW should success be measured? → Track segment-level churn before and after interventions.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Customer churn is not evenly distributed across the customer base.</a:t>
            </a:r>
          </a:p>
          <a:p>
            <a:pPr>
              <a:spcAft>
                <a:spcPts val="1200"/>
              </a:spcAft>
              <a:defRPr sz="1900"/>
            </a:pPr>
            <a:r>
              <a:t>Contract commitment and tenure show the strongest patterns, with additional high-risk segments identified by service and payment method.</a:t>
            </a:r>
          </a:p>
          <a:p>
            <a:pPr>
              <a:spcAft>
                <a:spcPts val="1200"/>
              </a:spcAft>
              <a:defRPr sz="1900"/>
            </a:pPr>
            <a:r>
              <a:t>The analysis provides management with a prioritised starting point for retention activity.</a:t>
            </a:r>
          </a:p>
          <a:p>
            <a:pPr>
              <a:spcAft>
                <a:spcPts val="1200"/>
              </a:spcAft>
              <a:defRPr sz="1900"/>
            </a:pPr>
            <a:r>
              <a:t>The next step is deeper segmentation and controlled testing to determine which interventions actually reduce churn.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Customer Base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256032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TOTAL CUSTOMERS</a:t>
            </a:r>
          </a:p>
          <a:p>
            <a:pPr algn="ctr">
              <a:defRPr sz="2400" b="1"/>
            </a:pPr>
            <a:r>
              <a:t>7,043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417320"/>
            <a:ext cx="256032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CHURNED CUSTOMERS</a:t>
            </a:r>
          </a:p>
          <a:p>
            <a:pPr algn="ctr">
              <a:defRPr sz="2400" b="1"/>
            </a:pPr>
            <a:r>
              <a:t>1,869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17320"/>
            <a:ext cx="256032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OVERALL CHURN</a:t>
            </a:r>
          </a:p>
          <a:p>
            <a:pPr algn="ctr">
              <a:defRPr sz="2400" b="1"/>
            </a:pPr>
            <a:r>
              <a:t>26.54%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417320"/>
            <a:ext cx="2560320" cy="1417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AVG TENURE</a:t>
            </a:r>
          </a:p>
          <a:p>
            <a:pPr algn="ctr">
              <a:defRPr sz="2400" b="1"/>
            </a:pPr>
            <a:r>
              <a:t>See workbook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Month-to-month customers represent approximately 55% of the customer base.</a:t>
            </a:r>
          </a:p>
          <a:p>
            <a:pPr>
              <a:spcAft>
                <a:spcPts val="1200"/>
              </a:spcAft>
              <a:defRPr sz="2000"/>
            </a:pPr>
            <a:r>
              <a:t>Fiber optic is the largest internet-service segment.</a:t>
            </a:r>
          </a:p>
          <a:p>
            <a:pPr>
              <a:spcAft>
                <a:spcPts val="1200"/>
              </a:spcAft>
              <a:defRPr sz="2000"/>
            </a:pPr>
            <a:r>
              <a:t>The overall churn rate provides the baseline against which high-risk segments should be evaluated.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Customer Churn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/>
            </a:pPr>
            <a:r>
              <a:t>Key message: Data becomes valuable when it helps a business decide what to do next.</a:t>
            </a:r>
          </a:p>
          <a:p>
            <a:pPr>
              <a:spcAft>
                <a:spcPts val="1200"/>
              </a:spcAft>
              <a:defRPr sz="26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